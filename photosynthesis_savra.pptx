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86600" y="-594360"/>
            <a:ext cx="3749039" cy="3749039"/>
          </a:xfrm>
          <a:prstGeom prst="ellipse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074920"/>
            <a:ext cx="2011680" cy="2011680"/>
          </a:xfrm>
          <a:prstGeom prst="ellipse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  <a:latin typeface="Calibri"/>
              </a:rPr>
              <a:t>BIOLOGY • CLASS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1381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5200" b="1" i="0">
                <a:solidFill>
                  <a:srgbClr val="4ADE80"/>
                </a:solidFill>
                <a:latin typeface="Calibri"/>
              </a:rPr>
              <a:t>PHOTOSYNTHESIS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The process that powers all life on Earth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127248"/>
            <a:ext cx="365760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5852160"/>
            <a:ext cx="5394960" cy="475488"/>
          </a:xfrm>
          <a:prstGeom prst="roundRect">
            <a:avLst/>
          </a:prstGeom>
          <a:solidFill>
            <a:srgbClr val="1A3A1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CBSE • Class 7 • Life Sciences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IS PHOTOSYNTHESIS?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4663440" cy="2971800"/>
          </a:xfrm>
          <a:prstGeom prst="roundRect">
            <a:avLst/>
          </a:prstGeom>
          <a:solidFill>
            <a:srgbClr val="1A3A1A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DE80"/>
                </a:solidFill>
                <a:latin typeface="Calibri"/>
              </a:rPr>
              <a:t>DEFINITION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A process by which plants use sunlight, water, and CO₂ to produce glucose and oxygen.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463040"/>
            <a:ext cx="3337560" cy="2971800"/>
          </a:xfrm>
          <a:prstGeom prst="roundRect">
            <a:avLst/>
          </a:prstGeom>
          <a:solidFill>
            <a:srgbClr val="1A3A1A"/>
          </a:solidFill>
          <a:ln w="1587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DE68A"/>
                </a:solidFill>
                <a:latin typeface="Calibri"/>
              </a:rPr>
              <a:t>THE EQUATION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DE68A"/>
                </a:solidFill>
                <a:latin typeface="Calibri"/>
              </a:rPr>
              <a:t>6CO₂ + 6H₂O → C₆H₁₂O₆ + 6O₂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Sunlight + Chlorophyll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892040"/>
            <a:ext cx="8229600" cy="914400"/>
          </a:xfrm>
          <a:prstGeom prst="roundRect">
            <a:avLst/>
          </a:prstGeom>
          <a:solidFill>
            <a:srgbClr val="14532D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DE80"/>
                </a:solidFill>
                <a:latin typeface="Calibri"/>
              </a:rPr>
              <a:t>Key Insight: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ADE80"/>
                </a:solidFill>
                <a:latin typeface="Calibri"/>
              </a:rPr>
              <a:t>Plants are the only living things that make their own food.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1" i="0">
                <a:solidFill>
                  <a:srgbClr val="0A1F0A"/>
                </a:solidFill>
                <a:latin typeface="Calibri"/>
              </a:rPr>
              <a:t>IMPORTANCE OF OXYGEN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260604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DE80"/>
                </a:solidFill>
                <a:latin typeface="Calibri"/>
              </a:rPr>
              <a:t>RESPIRATION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Essential for human and animal respiration — every breath depends on plant photosynthesis.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64408" y="1508760"/>
            <a:ext cx="260604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DE80"/>
                </a:solidFill>
                <a:latin typeface="Calibri"/>
              </a:rPr>
              <a:t>ENERGY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Oxygen is needed to burn glucose for cellular energy in all aerobic organisms.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71616" y="1508760"/>
            <a:ext cx="260604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DE80"/>
                </a:solidFill>
                <a:latin typeface="Calibri"/>
              </a:rPr>
              <a:t>LIFE SUPPORT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Supports all cellular activities — without it, complex life cannot exist.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4553712"/>
            <a:ext cx="2057400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400" b="1" i="0">
                <a:solidFill>
                  <a:srgbClr val="C6F6D5"/>
                </a:solidFill>
                <a:latin typeface="Calibri"/>
              </a:rPr>
              <a:t>O₂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DOES A PLANT NEED?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3840480" cy="1325880"/>
          </a:xfrm>
          <a:prstGeom prst="roundRect">
            <a:avLst/>
          </a:prstGeom>
          <a:solidFill>
            <a:srgbClr val="1A3A1A"/>
          </a:solidFill>
          <a:ln w="1587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DE68A"/>
                </a:solidFill>
                <a:latin typeface="Calibri"/>
              </a:rPr>
              <a:t>SUNLIGHT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Light energy from the sun drives the entire reaction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" cy="132588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63440" y="1417320"/>
            <a:ext cx="4023360" cy="1325880"/>
          </a:xfrm>
          <a:prstGeom prst="roundRect">
            <a:avLst/>
          </a:prstGeom>
          <a:solidFill>
            <a:srgbClr val="1A3A1A"/>
          </a:solidFill>
          <a:ln w="15875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DD3FC"/>
                </a:solidFill>
                <a:latin typeface="Calibri"/>
              </a:rPr>
              <a:t>WATER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Absorbed through roots, travels up the stem to leaves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417320"/>
            <a:ext cx="109728" cy="132588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880360"/>
            <a:ext cx="3840480" cy="1325880"/>
          </a:xfrm>
          <a:prstGeom prst="roundRect">
            <a:avLst/>
          </a:prstGeom>
          <a:solidFill>
            <a:srgbClr val="1A3A1A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ADE80"/>
                </a:solidFill>
                <a:latin typeface="Calibri"/>
              </a:rPr>
              <a:t>CO₂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Carbon dioxide enters through stomata on leaf surfaces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80360"/>
            <a:ext cx="109728" cy="1325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2880360"/>
            <a:ext cx="4023360" cy="1325880"/>
          </a:xfrm>
          <a:prstGeom prst="roundRect">
            <a:avLst/>
          </a:prstGeom>
          <a:solidFill>
            <a:srgbClr val="1A3A1A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ADE80"/>
                </a:solidFill>
                <a:latin typeface="Calibri"/>
              </a:rPr>
              <a:t>CHLOROPHYLL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The green pigment in chloroplasts that captures light energy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880360"/>
            <a:ext cx="109728" cy="1325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PLANT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0A1F0A"/>
                </a:solidFill>
                <a:latin typeface="Calibri"/>
              </a:rPr>
              <a:t>PARTS INVOLVED IN PHOTOSYNTHESIS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737360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0A1F0A"/>
                </a:solidFill>
                <a:latin typeface="Calibri"/>
              </a:rPr>
              <a:t>LEAVES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5544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Primary site; flat surface maximizes light absorption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651760"/>
            <a:ext cx="128016" cy="128016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0A1F0A"/>
                </a:solidFill>
                <a:latin typeface="Calibri"/>
              </a:rPr>
              <a:t>CHLOROPLASTS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4688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Organelles containing chlorophyll; actual site of reaction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566160"/>
            <a:ext cx="128016" cy="128016"/>
          </a:xfrm>
          <a:prstGeom prst="ellipse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0A1F0A"/>
                </a:solidFill>
                <a:latin typeface="Calibri"/>
              </a:rPr>
              <a:t>STOMATA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383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Tiny pores on leaf underside; CO₂ enters, O₂ exits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480560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0A1F0A"/>
                </a:solidFill>
                <a:latin typeface="Calibri"/>
              </a:rPr>
              <a:t>ROOTS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2976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Absorb water and minerals from soil for transport upward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600200"/>
            <a:ext cx="2926080" cy="3794760"/>
          </a:xfrm>
          <a:prstGeom prst="roundRect">
            <a:avLst/>
          </a:prstGeom>
          <a:solidFill>
            <a:srgbClr val="14532D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DE80"/>
                </a:solidFill>
                <a:latin typeface="Calibri"/>
              </a:rPr>
              <a:t>DID YOU KNOW?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A single leaf has thousands of stomata per square centimeter.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DOES PHOTOSYNTHESIS PRODUCE?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794760" cy="3520440"/>
          </a:xfrm>
          <a:prstGeom prst="roundRect">
            <a:avLst/>
          </a:prstGeom>
          <a:solidFill>
            <a:srgbClr val="1A3A1A"/>
          </a:solidFill>
          <a:ln w="1587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DE68A"/>
                </a:solidFill>
                <a:latin typeface="Calibri"/>
              </a:rPr>
              <a:t>GLUCOSE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C₆H₁₂O₆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406908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Used for energy, stored as starch in roots and fruits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600200"/>
            <a:ext cx="3794760" cy="3520440"/>
          </a:xfrm>
          <a:prstGeom prst="roundRect">
            <a:avLst/>
          </a:prstGeom>
          <a:solidFill>
            <a:srgbClr val="1A3A1A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DE80"/>
                </a:solidFill>
                <a:latin typeface="Calibri"/>
              </a:rPr>
              <a:t>OXYGEN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O₂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7488" y="406908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Released into atmosphere — the air we breathe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WATER'S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1" i="0">
                <a:solidFill>
                  <a:srgbClr val="0A1F0A"/>
                </a:solidFill>
                <a:latin typeface="Calibri"/>
              </a:rPr>
              <a:t>WHY WATER IS ESSENTIAL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813816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1F0A"/>
                </a:solidFill>
                <a:latin typeface="Calibri"/>
              </a:rPr>
              <a:t>PHOTOSYNTHESIS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Water is split during the light reaction to release oxygen and hydrogen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73152" cy="658368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423160"/>
            <a:ext cx="813816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1F0A"/>
                </a:solidFill>
                <a:latin typeface="Calibri"/>
              </a:rPr>
              <a:t>TRANSPIRATION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Evaporation of water regulates leaf temperature and drives upward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73152" cy="658368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3291839"/>
            <a:ext cx="813816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1F0A"/>
                </a:solidFill>
                <a:latin typeface="Calibri"/>
              </a:rPr>
              <a:t>TURGOR PRESSURE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Water pressure inside cells keeps leaves firm and upright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91839"/>
            <a:ext cx="73152" cy="658368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4160520"/>
            <a:ext cx="813816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1F0A"/>
                </a:solidFill>
                <a:latin typeface="Calibri"/>
              </a:rPr>
              <a:t>NUTRIENT TRANSPORT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Minerals dissolved in water travel from roots to all plant parts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160520"/>
            <a:ext cx="73152" cy="658368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TYPES OF PHOTOSYNTHESIS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697480" cy="2697480"/>
          </a:xfrm>
          <a:prstGeom prst="roundRect">
            <a:avLst/>
          </a:prstGeom>
          <a:solidFill>
            <a:srgbClr val="1A3A1A"/>
          </a:solidFill>
          <a:ln w="1587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DE80"/>
                </a:solidFill>
                <a:latin typeface="Calibri"/>
              </a:rPr>
              <a:t>OXYGENIC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 green plants with chlorophyll. Produces oxygen as byproduct. Most common 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554480"/>
            <a:ext cx="2697480" cy="2697480"/>
          </a:xfrm>
          <a:prstGeom prst="roundRect">
            <a:avLst/>
          </a:prstGeom>
          <a:solidFill>
            <a:srgbClr val="1A3A1A"/>
          </a:solidFill>
          <a:ln w="1587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DE68A"/>
                </a:solidFill>
                <a:latin typeface="Calibri"/>
              </a:rPr>
              <a:t>ANOXYGENIC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 bacteria with different pigments. Does NOT produce oxygen. Found in sulfur bacteria.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2697480" cy="2697480"/>
          </a:xfrm>
          <a:prstGeom prst="roundRect">
            <a:avLst/>
          </a:prstGeom>
          <a:solidFill>
            <a:srgbClr val="1A3A1A"/>
          </a:solidFill>
          <a:ln w="15875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DD3FC"/>
                </a:solidFill>
                <a:latin typeface="Calibri"/>
              </a:rPr>
              <a:t>CHEMOSYNTHESIS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 deep-sea microorganisms. Uses chemical energy instead of light. No sunlight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09160"/>
            <a:ext cx="8229600" cy="914400"/>
          </a:xfrm>
          <a:prstGeom prst="roundRect">
            <a:avLst/>
          </a:prstGeom>
          <a:solidFill>
            <a:srgbClr val="14532D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ADE80"/>
                </a:solidFill>
                <a:latin typeface="Calibri"/>
              </a:rPr>
              <a:t>Most life on Earth depends on oxygenic photosynthesis by green plants.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02920" y="4754880"/>
            <a:ext cx="2286000" cy="2286000"/>
          </a:xfrm>
          <a:prstGeom prst="ellipse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Photosynthesis is the foundation of all life on Earth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474720"/>
            <a:ext cx="2514600" cy="621792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Produces O₂ we breathe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3474720"/>
            <a:ext cx="2514600" cy="621792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Creates glucose for energy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3474720"/>
            <a:ext cx="2514600" cy="621792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Drives all food chains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15000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Class 7 • CBSE Science • Chapter: Nutrition in Plants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